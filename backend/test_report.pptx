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342"/>
        </a:solidFill>
        <a:effectLst/>
      </p:bgPr>
    </p:bg>
    <p:spTree>
      <p:nvGrpSpPr>
        <p:cNvPr id="1" name=""/>
        <p:cNvGrpSpPr/>
        <p:nvPr/>
      </p:nvGrpSpPr>
      <p:grpSpPr/>
      <p:sp>
        <p:nvSpPr>
          <p:cNvPr id="2" name="Rectangle 1"/>
          <p:cNvSpPr/>
          <p:nvPr/>
        </p:nvSpPr>
        <p:spPr>
          <a:xfrm>
            <a:off x="0" y="4754880"/>
            <a:ext cx="9144000" cy="13716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8229600" cy="365760"/>
          </a:xfrm>
          <a:prstGeom prst="rect">
            <a:avLst/>
          </a:prstGeom>
          <a:noFill/>
        </p:spPr>
        <p:txBody>
          <a:bodyPr wrap="none">
            <a:spAutoFit/>
          </a:bodyPr>
          <a:lstStyle/>
          <a:p>
            <a:pPr algn="ctr">
              <a:defRPr sz="1100" b="1">
                <a:solidFill>
                  <a:srgbClr val="E63946"/>
                </a:solidFill>
              </a:defRPr>
            </a:pPr>
            <a:r>
              <a:t>VIDEO COMPETITOR INTELLIGENCE REPORT</a:t>
            </a:r>
          </a:p>
        </p:txBody>
      </p:sp>
      <p:sp>
        <p:nvSpPr>
          <p:cNvPr id="4" name="TextBox 3"/>
          <p:cNvSpPr txBox="1"/>
          <p:nvPr/>
        </p:nvSpPr>
        <p:spPr>
          <a:xfrm>
            <a:off x="457200" y="1280160"/>
            <a:ext cx="8229600" cy="1371600"/>
          </a:xfrm>
          <a:prstGeom prst="rect">
            <a:avLst/>
          </a:prstGeom>
          <a:noFill/>
        </p:spPr>
        <p:txBody>
          <a:bodyPr wrap="square">
            <a:spAutoFit/>
          </a:bodyPr>
          <a:lstStyle/>
          <a:p>
            <a:pPr algn="ctr">
              <a:defRPr sz="4200" b="1">
                <a:solidFill>
                  <a:srgbClr val="FFFFFF"/>
                </a:solidFill>
              </a:defRPr>
            </a:pPr>
            <a:r>
              <a:t>Nike vs Adidas</a:t>
            </a:r>
          </a:p>
        </p:txBody>
      </p:sp>
      <p:sp>
        <p:nvSpPr>
          <p:cNvPr id="5" name="TextBox 4"/>
          <p:cNvSpPr txBox="1"/>
          <p:nvPr/>
        </p:nvSpPr>
        <p:spPr>
          <a:xfrm>
            <a:off x="457200" y="2834640"/>
            <a:ext cx="8229600" cy="457200"/>
          </a:xfrm>
          <a:prstGeom prst="rect">
            <a:avLst/>
          </a:prstGeom>
          <a:noFill/>
        </p:spPr>
        <p:txBody>
          <a:bodyPr wrap="none">
            <a:spAutoFit/>
          </a:bodyPr>
          <a:lstStyle/>
          <a:p>
            <a:pPr algn="ctr">
              <a:defRPr sz="1600">
                <a:solidFill>
                  <a:srgbClr val="6B7280"/>
                </a:solidFill>
              </a:defRPr>
            </a:pPr>
            <a:r>
              <a:t>YouTube Channel &amp; Video Marketing Analysis</a:t>
            </a:r>
          </a:p>
        </p:txBody>
      </p:sp>
      <p:sp>
        <p:nvSpPr>
          <p:cNvPr id="6" name="TextBox 5"/>
          <p:cNvSpPr txBox="1"/>
          <p:nvPr/>
        </p:nvSpPr>
        <p:spPr>
          <a:xfrm>
            <a:off x="457200" y="3474720"/>
            <a:ext cx="8229600" cy="457200"/>
          </a:xfrm>
          <a:prstGeom prst="rect">
            <a:avLst/>
          </a:prstGeom>
          <a:noFill/>
        </p:spPr>
        <p:txBody>
          <a:bodyPr wrap="none">
            <a:spAutoFit/>
          </a:bodyPr>
          <a:lstStyle/>
          <a:p>
            <a:pPr algn="ctr">
              <a:defRPr sz="1400" b="1">
                <a:solidFill>
                  <a:srgbClr val="E63946"/>
                </a:solidFill>
              </a:defRPr>
            </a:pPr>
            <a:r>
              <a:t>🏆  Current Leader: Nike</a:t>
            </a:r>
          </a:p>
        </p:txBody>
      </p:sp>
      <p:sp>
        <p:nvSpPr>
          <p:cNvPr id="7" name="TextBox 6"/>
          <p:cNvSpPr txBox="1"/>
          <p:nvPr/>
        </p:nvSpPr>
        <p:spPr>
          <a:xfrm>
            <a:off x="457200" y="4480560"/>
            <a:ext cx="8229600" cy="365760"/>
          </a:xfrm>
          <a:prstGeom prst="rect">
            <a:avLst/>
          </a:prstGeom>
          <a:noFill/>
        </p:spPr>
        <p:txBody>
          <a:bodyPr wrap="none">
            <a:spAutoFit/>
          </a:bodyPr>
          <a:lstStyle/>
          <a:p>
            <a:pPr algn="ctr">
              <a:defRPr sz="1000">
                <a:solidFill>
                  <a:srgbClr val="6B7280"/>
                </a:solidFill>
              </a:defRPr>
            </a:pPr>
            <a:r>
              <a:t>Generated on May 20,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Executive Summary</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8229600" cy="1645920"/>
          </a:xfrm>
          <a:prstGeom prst="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43000"/>
            <a:ext cx="7863840" cy="1371600"/>
          </a:xfrm>
          <a:prstGeom prst="rect">
            <a:avLst/>
          </a:prstGeom>
          <a:noFill/>
        </p:spPr>
        <p:txBody>
          <a:bodyPr wrap="square">
            <a:spAutoFit/>
          </a:bodyPr>
          <a:lstStyle/>
          <a:p>
            <a:pPr>
              <a:lnSpc>
                <a:spcPct val="150000"/>
              </a:lnSpc>
              <a:defRPr sz="1200">
                <a:solidFill>
                  <a:srgbClr val="6B7280"/>
                </a:solidFill>
              </a:defRPr>
            </a:pPr>
            <a:r>
              <a:t>Nike leads in the YouTube space due to its large subscriber base of 48 million and high total views of 500 million. Adidas trails behind with 12 million subscribers and 200 million total views. Nike's strong online presence is a key factor in its success.</a:t>
            </a:r>
          </a:p>
        </p:txBody>
      </p:sp>
      <p:sp>
        <p:nvSpPr>
          <p:cNvPr id="7" name="TextBox 6"/>
          <p:cNvSpPr txBox="1"/>
          <p:nvPr/>
        </p:nvSpPr>
        <p:spPr>
          <a:xfrm>
            <a:off x="457200" y="2834640"/>
            <a:ext cx="2743200" cy="731520"/>
          </a:xfrm>
          <a:prstGeom prst="rect">
            <a:avLst/>
          </a:prstGeom>
          <a:noFill/>
        </p:spPr>
        <p:txBody>
          <a:bodyPr wrap="none">
            <a:spAutoFit/>
          </a:bodyPr>
          <a:lstStyle/>
          <a:p>
            <a:pPr algn="ctr">
              <a:defRPr sz="3600" b="1">
                <a:solidFill>
                  <a:srgbClr val="E63946"/>
                </a:solidFill>
              </a:defRPr>
            </a:pPr>
            <a:r>
              <a:t>2</a:t>
            </a:r>
          </a:p>
          <a:p>
            <a:pPr algn="ctr">
              <a:defRPr sz="1000">
                <a:solidFill>
                  <a:srgbClr val="6B7280"/>
                </a:solidFill>
              </a:defRPr>
            </a:pPr>
            <a:r>
              <a:t>Companies Analysed</a:t>
            </a:r>
          </a:p>
        </p:txBody>
      </p:sp>
      <p:sp>
        <p:nvSpPr>
          <p:cNvPr id="8" name="TextBox 7"/>
          <p:cNvSpPr txBox="1"/>
          <p:nvPr/>
        </p:nvSpPr>
        <p:spPr>
          <a:xfrm>
            <a:off x="3200400" y="2834640"/>
            <a:ext cx="5486400" cy="1645920"/>
          </a:xfrm>
          <a:prstGeom prst="rect">
            <a:avLst/>
          </a:prstGeom>
          <a:noFill/>
        </p:spPr>
        <p:txBody>
          <a:bodyPr wrap="square">
            <a:spAutoFit/>
          </a:bodyPr>
          <a:lstStyle/>
          <a:p>
            <a:pPr>
              <a:defRPr sz="1600" b="1">
                <a:solidFill>
                  <a:srgbClr val="E63946"/>
                </a:solidFill>
              </a:defRPr>
            </a:pPr>
            <a:r>
              <a:t>🏆  Leader: Nike</a:t>
            </a:r>
          </a:p>
          <a:p>
            <a:pPr>
              <a:lnSpc>
                <a:spcPct val="130000"/>
              </a:lnSpc>
              <a:defRPr sz="1000">
                <a:solidFill>
                  <a:srgbClr val="6B7280"/>
                </a:solidFill>
              </a:defRPr>
            </a:pPr>
            <a:r>
              <a:t>Nike has a significantly larger subscriber base and higher total views than Adidas, with 48 million subscribers and 500 million total views compared to Adidas' 12 million subscribe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Channel Overview Comparison</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005840"/>
          <a:ext cx="8229600" cy="347472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1158240">
                <a:tc>
                  <a:txBody>
                    <a:bodyPr/>
                    <a:lstStyle/>
                    <a:p>
                      <a:pPr algn="ctr">
                        <a:defRPr sz="1100" b="1">
                          <a:solidFill>
                            <a:srgbClr val="FFFFFF"/>
                          </a:solidFill>
                        </a:defRPr>
                      </a:pPr>
                      <a:r>
                        <a:t>Channel</a:t>
                      </a:r>
                    </a:p>
                  </a:txBody>
                  <a:tcPr>
                    <a:solidFill>
                      <a:srgbClr val="0A2342"/>
                    </a:solidFill>
                  </a:tcPr>
                </a:tc>
                <a:tc>
                  <a:txBody>
                    <a:bodyPr/>
                    <a:lstStyle/>
                    <a:p>
                      <a:pPr algn="ctr">
                        <a:defRPr sz="1100" b="1">
                          <a:solidFill>
                            <a:srgbClr val="FFFFFF"/>
                          </a:solidFill>
                        </a:defRPr>
                      </a:pPr>
                      <a:r>
                        <a:t>Subscribers</a:t>
                      </a:r>
                    </a:p>
                  </a:txBody>
                  <a:tcPr>
                    <a:solidFill>
                      <a:srgbClr val="0A2342"/>
                    </a:solidFill>
                  </a:tcPr>
                </a:tc>
                <a:tc>
                  <a:txBody>
                    <a:bodyPr/>
                    <a:lstStyle/>
                    <a:p>
                      <a:pPr algn="ctr">
                        <a:defRPr sz="1100" b="1">
                          <a:solidFill>
                            <a:srgbClr val="FFFFFF"/>
                          </a:solidFill>
                        </a:defRPr>
                      </a:pPr>
                      <a:r>
                        <a:t>Total Videos</a:t>
                      </a:r>
                    </a:p>
                  </a:txBody>
                  <a:tcPr>
                    <a:solidFill>
                      <a:srgbClr val="0A2342"/>
                    </a:solidFill>
                  </a:tcPr>
                </a:tc>
                <a:tc>
                  <a:txBody>
                    <a:bodyPr/>
                    <a:lstStyle/>
                    <a:p>
                      <a:pPr algn="ctr">
                        <a:defRPr sz="1100" b="1">
                          <a:solidFill>
                            <a:srgbClr val="FFFFFF"/>
                          </a:solidFill>
                        </a:defRPr>
                      </a:pPr>
                      <a:r>
                        <a:t>Total Views</a:t>
                      </a:r>
                    </a:p>
                  </a:txBody>
                  <a:tcPr>
                    <a:solidFill>
                      <a:srgbClr val="0A2342"/>
                    </a:solidFill>
                  </a:tcPr>
                </a:tc>
                <a:tc>
                  <a:txBody>
                    <a:bodyPr/>
                    <a:lstStyle/>
                    <a:p>
                      <a:pPr algn="ctr">
                        <a:defRPr sz="1100" b="1">
                          <a:solidFill>
                            <a:srgbClr val="FFFFFF"/>
                          </a:solidFill>
                        </a:defRPr>
                      </a:pPr>
                      <a:r>
                        <a:t>Country</a:t>
                      </a:r>
                    </a:p>
                  </a:txBody>
                  <a:tcPr>
                    <a:solidFill>
                      <a:srgbClr val="0A2342"/>
                    </a:solidFill>
                  </a:tcPr>
                </a:tc>
              </a:tr>
              <a:tr h="1158240">
                <a:tc>
                  <a:txBody>
                    <a:bodyPr/>
                    <a:lstStyle/>
                    <a:p>
                      <a:pPr algn="ctr">
                        <a:defRPr sz="1000" b="1">
                          <a:solidFill>
                            <a:srgbClr val="0A2342"/>
                          </a:solidFill>
                        </a:defRPr>
                      </a:pPr>
                      <a:r>
                        <a:t>Nike</a:t>
                      </a:r>
                    </a:p>
                  </a:txBody>
                  <a:tcPr>
                    <a:solidFill>
                      <a:srgbClr val="DCF0FF"/>
                    </a:solidFill>
                  </a:tcPr>
                </a:tc>
                <a:tc>
                  <a:txBody>
                    <a:bodyPr/>
                    <a:lstStyle/>
                    <a:p>
                      <a:pPr algn="ctr">
                        <a:defRPr sz="1000" b="1">
                          <a:solidFill>
                            <a:srgbClr val="0A2342"/>
                          </a:solidFill>
                        </a:defRPr>
                      </a:pPr>
                      <a:r>
                        <a:t>48,000,000</a:t>
                      </a:r>
                    </a:p>
                  </a:txBody>
                  <a:tcPr>
                    <a:solidFill>
                      <a:srgbClr val="DCF0FF"/>
                    </a:solidFill>
                  </a:tcPr>
                </a:tc>
                <a:tc>
                  <a:txBody>
                    <a:bodyPr/>
                    <a:lstStyle/>
                    <a:p>
                      <a:pPr algn="ctr">
                        <a:defRPr sz="1000" b="1">
                          <a:solidFill>
                            <a:srgbClr val="0A2342"/>
                          </a:solidFill>
                        </a:defRPr>
                      </a:pPr>
                      <a:r>
                        <a:t>1,200</a:t>
                      </a:r>
                    </a:p>
                  </a:txBody>
                  <a:tcPr>
                    <a:solidFill>
                      <a:srgbClr val="DCF0FF"/>
                    </a:solidFill>
                  </a:tcPr>
                </a:tc>
                <a:tc>
                  <a:txBody>
                    <a:bodyPr/>
                    <a:lstStyle/>
                    <a:p>
                      <a:pPr algn="ctr">
                        <a:defRPr sz="1000" b="1">
                          <a:solidFill>
                            <a:srgbClr val="0A2342"/>
                          </a:solidFill>
                        </a:defRPr>
                      </a:pPr>
                      <a:r>
                        <a:t>500,000,000</a:t>
                      </a:r>
                    </a:p>
                  </a:txBody>
                  <a:tcPr>
                    <a:solidFill>
                      <a:srgbClr val="DCF0FF"/>
                    </a:solidFill>
                  </a:tcPr>
                </a:tc>
                <a:tc>
                  <a:txBody>
                    <a:bodyPr/>
                    <a:lstStyle/>
                    <a:p>
                      <a:pPr algn="ctr">
                        <a:defRPr sz="1000" b="1">
                          <a:solidFill>
                            <a:srgbClr val="0A2342"/>
                          </a:solidFill>
                        </a:defRPr>
                      </a:pPr>
                      <a:r>
                        <a:t>US</a:t>
                      </a:r>
                    </a:p>
                  </a:txBody>
                  <a:tcPr>
                    <a:solidFill>
                      <a:srgbClr val="DCF0FF"/>
                    </a:solidFill>
                  </a:tcPr>
                </a:tc>
              </a:tr>
              <a:tr h="1158240">
                <a:tc>
                  <a:txBody>
                    <a:bodyPr/>
                    <a:lstStyle/>
                    <a:p>
                      <a:pPr algn="ctr">
                        <a:defRPr sz="1000" b="0">
                          <a:solidFill>
                            <a:srgbClr val="6B7280"/>
                          </a:solidFill>
                        </a:defRPr>
                      </a:pPr>
                      <a:r>
                        <a:t>Adidas</a:t>
                      </a:r>
                    </a:p>
                  </a:txBody>
                  <a:tcPr>
                    <a:solidFill>
                      <a:srgbClr val="F3F4F6"/>
                    </a:solidFill>
                  </a:tcPr>
                </a:tc>
                <a:tc>
                  <a:txBody>
                    <a:bodyPr/>
                    <a:lstStyle/>
                    <a:p>
                      <a:pPr algn="ctr">
                        <a:defRPr sz="1000" b="0">
                          <a:solidFill>
                            <a:srgbClr val="6B7280"/>
                          </a:solidFill>
                        </a:defRPr>
                      </a:pPr>
                      <a:r>
                        <a:t>12,000,000</a:t>
                      </a:r>
                    </a:p>
                  </a:txBody>
                  <a:tcPr>
                    <a:solidFill>
                      <a:srgbClr val="F3F4F6"/>
                    </a:solidFill>
                  </a:tcPr>
                </a:tc>
                <a:tc>
                  <a:txBody>
                    <a:bodyPr/>
                    <a:lstStyle/>
                    <a:p>
                      <a:pPr algn="ctr">
                        <a:defRPr sz="1000" b="0">
                          <a:solidFill>
                            <a:srgbClr val="6B7280"/>
                          </a:solidFill>
                        </a:defRPr>
                      </a:pPr>
                      <a:r>
                        <a:t>800</a:t>
                      </a:r>
                    </a:p>
                  </a:txBody>
                  <a:tcPr>
                    <a:solidFill>
                      <a:srgbClr val="F3F4F6"/>
                    </a:solidFill>
                  </a:tcPr>
                </a:tc>
                <a:tc>
                  <a:txBody>
                    <a:bodyPr/>
                    <a:lstStyle/>
                    <a:p>
                      <a:pPr algn="ctr">
                        <a:defRPr sz="1000" b="0">
                          <a:solidFill>
                            <a:srgbClr val="6B7280"/>
                          </a:solidFill>
                        </a:defRPr>
                      </a:pPr>
                      <a:r>
                        <a:t>200,000,000</a:t>
                      </a:r>
                    </a:p>
                  </a:txBody>
                  <a:tcPr>
                    <a:solidFill>
                      <a:srgbClr val="F3F4F6"/>
                    </a:solidFill>
                  </a:tcPr>
                </a:tc>
                <a:tc>
                  <a:txBody>
                    <a:bodyPr/>
                    <a:lstStyle/>
                    <a:p>
                      <a:pPr algn="ctr">
                        <a:defRPr sz="1000" b="0">
                          <a:solidFill>
                            <a:srgbClr val="6B7280"/>
                          </a:solidFill>
                        </a:defRPr>
                      </a:pPr>
                      <a:r>
                        <a:t>DE</a:t>
                      </a:r>
                    </a:p>
                  </a:txBody>
                  <a:tcPr>
                    <a:solidFill>
                      <a:srgbClr val="F3F4F6"/>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Subscriber Count Comparison</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457200" y="1005840"/>
            <a:ext cx="8229600" cy="342178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Top Performing Video per Company</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8229600" cy="91440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78992"/>
            <a:ext cx="1828800" cy="274320"/>
          </a:xfrm>
          <a:prstGeom prst="rect">
            <a:avLst/>
          </a:prstGeom>
          <a:noFill/>
        </p:spPr>
        <p:txBody>
          <a:bodyPr wrap="none">
            <a:spAutoFit/>
          </a:bodyPr>
          <a:lstStyle/>
          <a:p>
            <a:pPr>
              <a:defRPr sz="1100" b="1">
                <a:solidFill>
                  <a:srgbClr val="E63946"/>
                </a:solidFill>
              </a:defRPr>
            </a:pPr>
            <a:r>
              <a:t>Nike</a:t>
            </a:r>
          </a:p>
        </p:txBody>
      </p:sp>
      <p:sp>
        <p:nvSpPr>
          <p:cNvPr id="7" name="TextBox 6"/>
          <p:cNvSpPr txBox="1"/>
          <p:nvPr/>
        </p:nvSpPr>
        <p:spPr>
          <a:xfrm>
            <a:off x="594360" y="1371600"/>
            <a:ext cx="7955280" cy="320040"/>
          </a:xfrm>
          <a:prstGeom prst="rect">
            <a:avLst/>
          </a:prstGeom>
          <a:noFill/>
        </p:spPr>
        <p:txBody>
          <a:bodyPr wrap="square">
            <a:spAutoFit/>
          </a:bodyPr>
          <a:lstStyle/>
          <a:p>
            <a:pPr>
              <a:defRPr sz="1000">
                <a:solidFill>
                  <a:srgbClr val="0A2342"/>
                </a:solidFill>
              </a:defRPr>
            </a:pPr>
            <a:r>
              <a:t>🎬  Just Do It Campaign 2024</a:t>
            </a:r>
          </a:p>
        </p:txBody>
      </p:sp>
      <p:sp>
        <p:nvSpPr>
          <p:cNvPr id="8" name="TextBox 7"/>
          <p:cNvSpPr txBox="1"/>
          <p:nvPr/>
        </p:nvSpPr>
        <p:spPr>
          <a:xfrm>
            <a:off x="594360" y="1664208"/>
            <a:ext cx="8229600" cy="228600"/>
          </a:xfrm>
          <a:prstGeom prst="rect">
            <a:avLst/>
          </a:prstGeom>
          <a:noFill/>
        </p:spPr>
        <p:txBody>
          <a:bodyPr wrap="none">
            <a:spAutoFit/>
          </a:bodyPr>
          <a:lstStyle/>
          <a:p>
            <a:pPr>
              <a:defRPr sz="900">
                <a:solidFill>
                  <a:srgbClr val="6B7280"/>
                </a:solidFill>
              </a:defRPr>
            </a:pPr>
            <a:r>
              <a:t>👁  5,000,000 views   👍  200,000 likes</a:t>
            </a:r>
          </a:p>
        </p:txBody>
      </p:sp>
      <p:sp>
        <p:nvSpPr>
          <p:cNvPr id="9" name="Rectangle 8"/>
          <p:cNvSpPr/>
          <p:nvPr/>
        </p:nvSpPr>
        <p:spPr>
          <a:xfrm>
            <a:off x="457200" y="1965960"/>
            <a:ext cx="8229600" cy="91440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039112"/>
            <a:ext cx="1828800" cy="274320"/>
          </a:xfrm>
          <a:prstGeom prst="rect">
            <a:avLst/>
          </a:prstGeom>
          <a:noFill/>
        </p:spPr>
        <p:txBody>
          <a:bodyPr wrap="none">
            <a:spAutoFit/>
          </a:bodyPr>
          <a:lstStyle/>
          <a:p>
            <a:pPr>
              <a:defRPr sz="1100" b="1">
                <a:solidFill>
                  <a:srgbClr val="E63946"/>
                </a:solidFill>
              </a:defRPr>
            </a:pPr>
            <a:r>
              <a:t>Adidas</a:t>
            </a:r>
          </a:p>
        </p:txBody>
      </p:sp>
      <p:sp>
        <p:nvSpPr>
          <p:cNvPr id="11" name="TextBox 10"/>
          <p:cNvSpPr txBox="1"/>
          <p:nvPr/>
        </p:nvSpPr>
        <p:spPr>
          <a:xfrm>
            <a:off x="594360" y="2331720"/>
            <a:ext cx="7955280" cy="320040"/>
          </a:xfrm>
          <a:prstGeom prst="rect">
            <a:avLst/>
          </a:prstGeom>
          <a:noFill/>
        </p:spPr>
        <p:txBody>
          <a:bodyPr wrap="square">
            <a:spAutoFit/>
          </a:bodyPr>
          <a:lstStyle/>
          <a:p>
            <a:pPr>
              <a:defRPr sz="1000">
                <a:solidFill>
                  <a:srgbClr val="0A2342"/>
                </a:solidFill>
              </a:defRPr>
            </a:pPr>
            <a:r>
              <a:t>🎬  Adidas Originals New Drop</a:t>
            </a:r>
          </a:p>
        </p:txBody>
      </p:sp>
      <p:sp>
        <p:nvSpPr>
          <p:cNvPr id="12" name="TextBox 11"/>
          <p:cNvSpPr txBox="1"/>
          <p:nvPr/>
        </p:nvSpPr>
        <p:spPr>
          <a:xfrm>
            <a:off x="594360" y="2624328"/>
            <a:ext cx="8229600" cy="228600"/>
          </a:xfrm>
          <a:prstGeom prst="rect">
            <a:avLst/>
          </a:prstGeom>
          <a:noFill/>
        </p:spPr>
        <p:txBody>
          <a:bodyPr wrap="none">
            <a:spAutoFit/>
          </a:bodyPr>
          <a:lstStyle/>
          <a:p>
            <a:pPr>
              <a:defRPr sz="900">
                <a:solidFill>
                  <a:srgbClr val="6B7280"/>
                </a:solidFill>
              </a:defRPr>
            </a:pPr>
            <a:r>
              <a:t>👁  2,000,000 views   👍  80,000 likes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Content Themes &amp; Topics</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3977640" cy="292608"/>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42416"/>
            <a:ext cx="3794760" cy="256032"/>
          </a:xfrm>
          <a:prstGeom prst="rect">
            <a:avLst/>
          </a:prstGeom>
          <a:noFill/>
        </p:spPr>
        <p:txBody>
          <a:bodyPr wrap="none">
            <a:spAutoFit/>
          </a:bodyPr>
          <a:lstStyle/>
          <a:p>
            <a:pPr>
              <a:defRPr sz="1100" b="1">
                <a:solidFill>
                  <a:srgbClr val="FFFFFF"/>
                </a:solidFill>
              </a:defRPr>
            </a:pPr>
            <a:r>
              <a:t>Nike</a:t>
            </a:r>
          </a:p>
        </p:txBody>
      </p:sp>
      <p:sp>
        <p:nvSpPr>
          <p:cNvPr id="7" name="TextBox 6"/>
          <p:cNvSpPr txBox="1"/>
          <p:nvPr/>
        </p:nvSpPr>
        <p:spPr>
          <a:xfrm>
            <a:off x="548640" y="1353312"/>
            <a:ext cx="3794760" cy="1463040"/>
          </a:xfrm>
          <a:prstGeom prst="rect">
            <a:avLst/>
          </a:prstGeom>
          <a:noFill/>
        </p:spPr>
        <p:txBody>
          <a:bodyPr wrap="square">
            <a:spAutoFit/>
          </a:bodyPr>
          <a:lstStyle/>
          <a:p>
            <a:pPr>
              <a:defRPr sz="1000">
                <a:solidFill>
                  <a:srgbClr val="6B7280"/>
                </a:solidFill>
              </a:defRPr>
            </a:pPr>
            <a:r>
              <a:t>• mixed content</a:t>
            </a:r>
          </a:p>
          <a:p>
            <a:pPr>
              <a:defRPr sz="900" i="1">
                <a:solidFill>
                  <a:srgbClr val="E63946"/>
                </a:solidFill>
              </a:defRPr>
            </a:pPr>
            <a:r>
              <a:t>Gap: sustainability</a:t>
            </a:r>
          </a:p>
        </p:txBody>
      </p:sp>
      <p:sp>
        <p:nvSpPr>
          <p:cNvPr id="8" name="Rectangle 7"/>
          <p:cNvSpPr/>
          <p:nvPr/>
        </p:nvSpPr>
        <p:spPr>
          <a:xfrm>
            <a:off x="4709160" y="1005840"/>
            <a:ext cx="3977640" cy="292608"/>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1042416"/>
            <a:ext cx="3794760" cy="256032"/>
          </a:xfrm>
          <a:prstGeom prst="rect">
            <a:avLst/>
          </a:prstGeom>
          <a:noFill/>
        </p:spPr>
        <p:txBody>
          <a:bodyPr wrap="none">
            <a:spAutoFit/>
          </a:bodyPr>
          <a:lstStyle/>
          <a:p>
            <a:pPr>
              <a:defRPr sz="1100" b="1">
                <a:solidFill>
                  <a:srgbClr val="FFFFFF"/>
                </a:solidFill>
              </a:defRPr>
            </a:pPr>
            <a:r>
              <a:t>Adidas</a:t>
            </a:r>
          </a:p>
        </p:txBody>
      </p:sp>
      <p:sp>
        <p:nvSpPr>
          <p:cNvPr id="10" name="TextBox 9"/>
          <p:cNvSpPr txBox="1"/>
          <p:nvPr/>
        </p:nvSpPr>
        <p:spPr>
          <a:xfrm>
            <a:off x="4800600" y="1353312"/>
            <a:ext cx="3794760" cy="1463040"/>
          </a:xfrm>
          <a:prstGeom prst="rect">
            <a:avLst/>
          </a:prstGeom>
          <a:noFill/>
        </p:spPr>
        <p:txBody>
          <a:bodyPr wrap="square">
            <a:spAutoFit/>
          </a:bodyPr>
          <a:lstStyle/>
          <a:p>
            <a:pPr>
              <a:defRPr sz="1000">
                <a:solidFill>
                  <a:srgbClr val="6B7280"/>
                </a:solidFill>
              </a:defRPr>
            </a:pPr>
            <a:r>
              <a:t>• mixed content</a:t>
            </a:r>
          </a:p>
          <a:p>
            <a:pPr>
              <a:defRPr sz="900" i="1">
                <a:solidFill>
                  <a:srgbClr val="E63946"/>
                </a:solidFill>
              </a:defRPr>
            </a:pPr>
            <a:r>
              <a:t>Gap: innovation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Posting Frequency &amp; Consistency</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005840"/>
          <a:ext cx="4572000" cy="1234440"/>
        </p:xfrm>
        <a:graphic>
          <a:graphicData uri="http://schemas.openxmlformats.org/drawingml/2006/table">
            <a:tbl>
              <a:tblPr firstRow="1" bandRow="1">
                <a:tableStyleId>{5C22544A-7EE6-4342-B048-85BDC9FD1C3A}</a:tableStyleId>
              </a:tblPr>
              <a:tblGrid>
                <a:gridCol w="1524000"/>
                <a:gridCol w="1524000"/>
                <a:gridCol w="1524000"/>
              </a:tblGrid>
              <a:tr h="411480">
                <a:tc>
                  <a:txBody>
                    <a:bodyPr/>
                    <a:lstStyle/>
                    <a:p>
                      <a:pPr>
                        <a:defRPr sz="1100" b="1">
                          <a:solidFill>
                            <a:srgbClr val="FFFFFF"/>
                          </a:solidFill>
                        </a:defRPr>
                      </a:pPr>
                      <a:r>
                        <a:t>Company</a:t>
                      </a:r>
                    </a:p>
                  </a:txBody>
                  <a:tcPr>
                    <a:solidFill>
                      <a:srgbClr val="0A2342"/>
                    </a:solidFill>
                  </a:tcPr>
                </a:tc>
                <a:tc>
                  <a:txBody>
                    <a:bodyPr/>
                    <a:lstStyle/>
                    <a:p>
                      <a:pPr>
                        <a:defRPr sz="1100" b="1">
                          <a:solidFill>
                            <a:srgbClr val="FFFFFF"/>
                          </a:solidFill>
                        </a:defRPr>
                      </a:pPr>
                      <a:r>
                        <a:t>Posts/Month</a:t>
                      </a:r>
                    </a:p>
                  </a:txBody>
                  <a:tcPr>
                    <a:solidFill>
                      <a:srgbClr val="0A2342"/>
                    </a:solidFill>
                  </a:tcPr>
                </a:tc>
                <a:tc>
                  <a:txBody>
                    <a:bodyPr/>
                    <a:lstStyle/>
                    <a:p>
                      <a:pPr>
                        <a:defRPr sz="1100" b="1">
                          <a:solidFill>
                            <a:srgbClr val="FFFFFF"/>
                          </a:solidFill>
                        </a:defRPr>
                      </a:pPr>
                      <a:r>
                        <a:t>Status</a:t>
                      </a:r>
                    </a:p>
                  </a:txBody>
                  <a:tcPr>
                    <a:solidFill>
                      <a:srgbClr val="0A2342"/>
                    </a:solidFill>
                  </a:tcPr>
                </a:tc>
              </a:tr>
              <a:tr h="411480">
                <a:tc>
                  <a:txBody>
                    <a:bodyPr/>
                    <a:lstStyle/>
                    <a:p>
                      <a:pPr>
                        <a:defRPr sz="1000" b="1">
                          <a:solidFill>
                            <a:srgbClr val="0A2342"/>
                          </a:solidFill>
                        </a:defRPr>
                      </a:pPr>
                      <a:r>
                        <a:t>Nike</a:t>
                      </a:r>
                    </a:p>
                  </a:txBody>
                  <a:tcPr>
                    <a:solidFill>
                      <a:srgbClr val="DCF0FF"/>
                    </a:solidFill>
                  </a:tcPr>
                </a:tc>
                <a:tc>
                  <a:txBody>
                    <a:bodyPr/>
                    <a:lstStyle/>
                    <a:p>
                      <a:pPr>
                        <a:defRPr sz="1000" b="1">
                          <a:solidFill>
                            <a:srgbClr val="0A2342"/>
                          </a:solidFill>
                        </a:defRPr>
                      </a:pPr>
                      <a:r>
                        <a:t>8</a:t>
                      </a:r>
                    </a:p>
                  </a:txBody>
                  <a:tcPr>
                    <a:solidFill>
                      <a:srgbClr val="DCF0FF"/>
                    </a:solidFill>
                  </a:tcPr>
                </a:tc>
                <a:tc>
                  <a:txBody>
                    <a:bodyPr/>
                    <a:lstStyle/>
                    <a:p>
                      <a:pPr>
                        <a:defRPr sz="1000" b="1">
                          <a:solidFill>
                            <a:srgbClr val="0A2342"/>
                          </a:solidFill>
                        </a:defRPr>
                      </a:pPr>
                      <a:r>
                        <a:t>🏆 Most Consistent</a:t>
                      </a:r>
                    </a:p>
                  </a:txBody>
                  <a:tcPr>
                    <a:solidFill>
                      <a:srgbClr val="DCF0FF"/>
                    </a:solidFill>
                  </a:tcPr>
                </a:tc>
              </a:tr>
              <a:tr h="411480">
                <a:tc>
                  <a:txBody>
                    <a:bodyPr/>
                    <a:lstStyle/>
                    <a:p>
                      <a:pPr>
                        <a:defRPr sz="1000" b="0">
                          <a:solidFill>
                            <a:srgbClr val="6B7280"/>
                          </a:solidFill>
                        </a:defRPr>
                      </a:pPr>
                      <a:r>
                        <a:t>Adidas</a:t>
                      </a:r>
                    </a:p>
                  </a:txBody>
                  <a:tcPr>
                    <a:solidFill>
                      <a:srgbClr val="F3F4F6"/>
                    </a:solidFill>
                  </a:tcPr>
                </a:tc>
                <a:tc>
                  <a:txBody>
                    <a:bodyPr/>
                    <a:lstStyle/>
                    <a:p>
                      <a:pPr>
                        <a:defRPr sz="1000" b="0">
                          <a:solidFill>
                            <a:srgbClr val="6B7280"/>
                          </a:solidFill>
                        </a:defRPr>
                      </a:pPr>
                      <a:r>
                        <a:t>5</a:t>
                      </a:r>
                    </a:p>
                  </a:txBody>
                  <a:tcPr>
                    <a:solidFill>
                      <a:srgbClr val="F3F4F6"/>
                    </a:solidFill>
                  </a:tcPr>
                </a:tc>
                <a:tc>
                  <a:txBody>
                    <a:bodyPr/>
                    <a:lstStyle/>
                    <a:p>
                      <a:pPr>
                        <a:defRPr sz="1000" b="0">
                          <a:solidFill>
                            <a:srgbClr val="6B7280"/>
                          </a:solidFill>
                        </a:defRPr>
                      </a:pPr>
                      <a:r>
                        <a:t>Regular</a:t>
                      </a:r>
                    </a:p>
                  </a:txBody>
                  <a:tcPr>
                    <a:solidFill>
                      <a:srgbClr val="F3F4F6"/>
                    </a:solidFill>
                  </a:tcPr>
                </a:tc>
              </a:tr>
            </a:tbl>
          </a:graphicData>
        </a:graphic>
      </p:graphicFrame>
      <p:sp>
        <p:nvSpPr>
          <p:cNvPr id="6" name="TextBox 5"/>
          <p:cNvSpPr txBox="1"/>
          <p:nvPr/>
        </p:nvSpPr>
        <p:spPr>
          <a:xfrm>
            <a:off x="457200" y="2423160"/>
            <a:ext cx="8229600" cy="1828800"/>
          </a:xfrm>
          <a:prstGeom prst="rect">
            <a:avLst/>
          </a:prstGeom>
          <a:noFill/>
        </p:spPr>
        <p:txBody>
          <a:bodyPr wrap="square">
            <a:spAutoFit/>
          </a:bodyPr>
          <a:lstStyle/>
          <a:p>
            <a:pPr>
              <a:lnSpc>
                <a:spcPct val="140000"/>
              </a:lnSpc>
              <a:defRPr sz="1100">
                <a:solidFill>
                  <a:srgbClr val="6B7280"/>
                </a:solidFill>
              </a:defRPr>
            </a:pPr>
            <a:r>
              <a:t>8 posts per month Nike posts more frequently than Adidas, with 8 posts per month compared to Adidas' 5 posts per month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Engagement Analysis</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457200" y="1005840"/>
            <a:ext cx="7772400" cy="2846601"/>
          </a:xfrm>
          <a:prstGeom prst="rect">
            <a:avLst/>
          </a:prstGeom>
        </p:spPr>
      </p:pic>
      <p:sp>
        <p:nvSpPr>
          <p:cNvPr id="6" name="TextBox 5"/>
          <p:cNvSpPr txBox="1"/>
          <p:nvPr/>
        </p:nvSpPr>
        <p:spPr>
          <a:xfrm>
            <a:off x="457200" y="3840480"/>
            <a:ext cx="8229600" cy="914400"/>
          </a:xfrm>
          <a:prstGeom prst="rect">
            <a:avLst/>
          </a:prstGeom>
          <a:noFill/>
        </p:spPr>
        <p:txBody>
          <a:bodyPr wrap="square">
            <a:spAutoFit/>
          </a:bodyPr>
          <a:lstStyle/>
          <a:p>
            <a:pPr>
              <a:defRPr sz="1000">
                <a:solidFill>
                  <a:srgbClr val="6B7280"/>
                </a:solidFill>
              </a:defRPr>
            </a:pPr>
            <a:r>
              <a:t>despite having a large subscriber base, both Nike and Adidas have an engagement rate of 0.00%, indicating a need for more interactive content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Opportunities You Are Missing</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05840"/>
            <a:ext cx="4114800" cy="3657600"/>
          </a:xfrm>
          <a:prstGeom prst="rect">
            <a:avLst/>
          </a:prstGeom>
          <a:noFill/>
        </p:spPr>
        <p:txBody>
          <a:bodyPr wrap="square">
            <a:spAutoFit/>
          </a:bodyPr>
          <a:lstStyle/>
          <a:p>
            <a:pPr>
              <a:defRPr sz="1300" b="1">
                <a:solidFill>
                  <a:srgbClr val="0A2342"/>
                </a:solidFill>
              </a:defRPr>
            </a:pPr>
            <a:r>
              <a:t>Untapped Content Topics</a:t>
            </a:r>
          </a:p>
          <a:p>
            <a:pPr>
              <a:lnSpc>
                <a:spcPct val="140000"/>
              </a:lnSpc>
              <a:defRPr sz="1100">
                <a:solidFill>
                  <a:srgbClr val="6B7280"/>
                </a:solidFill>
              </a:defRPr>
            </a:pPr>
            <a:r>
              <a:t>▶  athleisure and lifestyle content</a:t>
            </a:r>
          </a:p>
          <a:p>
            <a:pPr>
              <a:lnSpc>
                <a:spcPct val="140000"/>
              </a:lnSpc>
              <a:defRPr sz="1100">
                <a:solidFill>
                  <a:srgbClr val="6B7280"/>
                </a:solidFill>
              </a:defRPr>
            </a:pPr>
            <a:r>
              <a:t>▶  creating content around sustainability and social responsibility</a:t>
            </a:r>
          </a:p>
        </p:txBody>
      </p:sp>
      <p:sp>
        <p:nvSpPr>
          <p:cNvPr id="6" name="Rectangle 5"/>
          <p:cNvSpPr/>
          <p:nvPr/>
        </p:nvSpPr>
        <p:spPr>
          <a:xfrm>
            <a:off x="4754880" y="1005840"/>
            <a:ext cx="3931920" cy="3657600"/>
          </a:xfrm>
          <a:prstGeom prst="rect">
            <a:avLst/>
          </a:prstGeom>
          <a:solidFill>
            <a:srgbClr val="0A2342"/>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1143000"/>
            <a:ext cx="3566160" cy="3383280"/>
          </a:xfrm>
          <a:prstGeom prst="rect">
            <a:avLst/>
          </a:prstGeom>
          <a:noFill/>
        </p:spPr>
        <p:txBody>
          <a:bodyPr wrap="square">
            <a:spAutoFit/>
          </a:bodyPr>
          <a:lstStyle/>
          <a:p>
            <a:pPr>
              <a:defRPr sz="1300" b="1">
                <a:solidFill>
                  <a:srgbClr val="E63946"/>
                </a:solidFill>
              </a:defRPr>
            </a:pPr>
            <a:r>
              <a:t>Biggest Opportunity</a:t>
            </a:r>
          </a:p>
          <a:p>
            <a:pPr>
              <a:lnSpc>
                <a:spcPct val="140000"/>
              </a:lnSpc>
              <a:defRPr sz="1100">
                <a:solidFill>
                  <a:srgbClr val="FFFFFF"/>
                </a:solidFill>
              </a:defRPr>
            </a:pPr>
            <a:r>
              <a:t>consumers are increasingly looking for brands that prioritize sustainability and social responsibility, and athleisure wear is a growing market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Strategic Recommendations</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8229600" cy="804672"/>
          </a:xfrm>
          <a:prstGeom prst="rect">
            <a:avLst/>
          </a:prstGeom>
          <a:solidFill>
            <a:srgbClr val="F3F4F6"/>
          </a:solidFill>
          <a:ln w="254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78992"/>
            <a:ext cx="1097280" cy="256032"/>
          </a:xfrm>
          <a:prstGeom prst="rect">
            <a:avLst/>
          </a:prstGeom>
          <a:noFill/>
        </p:spPr>
        <p:txBody>
          <a:bodyPr wrap="none">
            <a:spAutoFit/>
          </a:bodyPr>
          <a:lstStyle/>
          <a:p>
            <a:pPr>
              <a:defRPr sz="900" b="1">
                <a:solidFill>
                  <a:srgbClr val="E63946"/>
                </a:solidFill>
              </a:defRPr>
            </a:pPr>
            <a:r>
              <a:t>● Immediate</a:t>
            </a:r>
          </a:p>
        </p:txBody>
      </p:sp>
      <p:sp>
        <p:nvSpPr>
          <p:cNvPr id="7" name="TextBox 6"/>
          <p:cNvSpPr txBox="1"/>
          <p:nvPr/>
        </p:nvSpPr>
        <p:spPr>
          <a:xfrm>
            <a:off x="1737360" y="1060704"/>
            <a:ext cx="6766560" cy="347472"/>
          </a:xfrm>
          <a:prstGeom prst="rect">
            <a:avLst/>
          </a:prstGeom>
          <a:noFill/>
        </p:spPr>
        <p:txBody>
          <a:bodyPr wrap="square">
            <a:spAutoFit/>
          </a:bodyPr>
          <a:lstStyle/>
          <a:p>
            <a:pPr>
              <a:defRPr sz="1100" b="1">
                <a:solidFill>
                  <a:srgbClr val="0A2342"/>
                </a:solidFill>
              </a:defRPr>
            </a:pPr>
            <a:r>
              <a:t>increase engagement through interactive content</a:t>
            </a:r>
          </a:p>
        </p:txBody>
      </p:sp>
      <p:sp>
        <p:nvSpPr>
          <p:cNvPr id="8" name="TextBox 7"/>
          <p:cNvSpPr txBox="1"/>
          <p:nvPr/>
        </p:nvSpPr>
        <p:spPr>
          <a:xfrm>
            <a:off x="1737360" y="1444752"/>
            <a:ext cx="6766560" cy="292608"/>
          </a:xfrm>
          <a:prstGeom prst="rect">
            <a:avLst/>
          </a:prstGeom>
          <a:noFill/>
        </p:spPr>
        <p:txBody>
          <a:bodyPr wrap="none">
            <a:spAutoFit/>
          </a:bodyPr>
          <a:lstStyle/>
          <a:p>
            <a:pPr>
              <a:defRPr sz="900" i="1">
                <a:solidFill>
                  <a:srgbClr val="6B7280"/>
                </a:solidFill>
              </a:defRPr>
            </a:pPr>
            <a:r>
              <a:t>Expected: 25% increase in engagement</a:t>
            </a:r>
          </a:p>
        </p:txBody>
      </p:sp>
      <p:sp>
        <p:nvSpPr>
          <p:cNvPr id="9" name="Rectangle 8"/>
          <p:cNvSpPr/>
          <p:nvPr/>
        </p:nvSpPr>
        <p:spPr>
          <a:xfrm>
            <a:off x="457200" y="1856232"/>
            <a:ext cx="8229600" cy="804672"/>
          </a:xfrm>
          <a:prstGeom prst="rect">
            <a:avLst/>
          </a:prstGeom>
          <a:solidFill>
            <a:srgbClr val="F3F4F6"/>
          </a:solidFill>
          <a:ln w="254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29384"/>
            <a:ext cx="1097280" cy="256032"/>
          </a:xfrm>
          <a:prstGeom prst="rect">
            <a:avLst/>
          </a:prstGeom>
          <a:noFill/>
        </p:spPr>
        <p:txBody>
          <a:bodyPr wrap="none">
            <a:spAutoFit/>
          </a:bodyPr>
          <a:lstStyle/>
          <a:p>
            <a:pPr>
              <a:defRPr sz="900" b="1">
                <a:solidFill>
                  <a:srgbClr val="E63946"/>
                </a:solidFill>
              </a:defRPr>
            </a:pPr>
            <a:r>
              <a:t>● High</a:t>
            </a:r>
          </a:p>
        </p:txBody>
      </p:sp>
      <p:sp>
        <p:nvSpPr>
          <p:cNvPr id="11" name="TextBox 10"/>
          <p:cNvSpPr txBox="1"/>
          <p:nvPr/>
        </p:nvSpPr>
        <p:spPr>
          <a:xfrm>
            <a:off x="1737360" y="1911096"/>
            <a:ext cx="6766560" cy="347472"/>
          </a:xfrm>
          <a:prstGeom prst="rect">
            <a:avLst/>
          </a:prstGeom>
          <a:noFill/>
        </p:spPr>
        <p:txBody>
          <a:bodyPr wrap="square">
            <a:spAutoFit/>
          </a:bodyPr>
          <a:lstStyle/>
          <a:p>
            <a:pPr>
              <a:defRPr sz="1100" b="1">
                <a:solidFill>
                  <a:srgbClr val="0A2342"/>
                </a:solidFill>
              </a:defRPr>
            </a:pPr>
            <a:r>
              <a:t>create content around sustainability and social responsibility</a:t>
            </a:r>
          </a:p>
        </p:txBody>
      </p:sp>
      <p:sp>
        <p:nvSpPr>
          <p:cNvPr id="12" name="TextBox 11"/>
          <p:cNvSpPr txBox="1"/>
          <p:nvPr/>
        </p:nvSpPr>
        <p:spPr>
          <a:xfrm>
            <a:off x="1737360" y="2295144"/>
            <a:ext cx="6766560" cy="292608"/>
          </a:xfrm>
          <a:prstGeom prst="rect">
            <a:avLst/>
          </a:prstGeom>
          <a:noFill/>
        </p:spPr>
        <p:txBody>
          <a:bodyPr wrap="none">
            <a:spAutoFit/>
          </a:bodyPr>
          <a:lstStyle/>
          <a:p>
            <a:pPr>
              <a:defRPr sz="900" i="1">
                <a:solidFill>
                  <a:srgbClr val="6B7280"/>
                </a:solidFill>
              </a:defRPr>
            </a:pPr>
            <a:r>
              <a:t>Expected: 15% increase in brand loyalty</a:t>
            </a:r>
          </a:p>
        </p:txBody>
      </p:sp>
      <p:sp>
        <p:nvSpPr>
          <p:cNvPr id="13" name="Rectangle 12"/>
          <p:cNvSpPr/>
          <p:nvPr/>
        </p:nvSpPr>
        <p:spPr>
          <a:xfrm>
            <a:off x="457200" y="2706624"/>
            <a:ext cx="8229600" cy="804672"/>
          </a:xfrm>
          <a:prstGeom prst="rect">
            <a:avLst/>
          </a:prstGeom>
          <a:solidFill>
            <a:srgbClr val="F3F4F6"/>
          </a:solidFill>
          <a:ln w="254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779776"/>
            <a:ext cx="1097280" cy="256032"/>
          </a:xfrm>
          <a:prstGeom prst="rect">
            <a:avLst/>
          </a:prstGeom>
          <a:noFill/>
        </p:spPr>
        <p:txBody>
          <a:bodyPr wrap="none">
            <a:spAutoFit/>
          </a:bodyPr>
          <a:lstStyle/>
          <a:p>
            <a:pPr>
              <a:defRPr sz="900" b="1">
                <a:solidFill>
                  <a:srgbClr val="FF9900"/>
                </a:solidFill>
              </a:defRPr>
            </a:pPr>
            <a:r>
              <a:t>● Medium</a:t>
            </a:r>
          </a:p>
        </p:txBody>
      </p:sp>
      <p:sp>
        <p:nvSpPr>
          <p:cNvPr id="15" name="TextBox 14"/>
          <p:cNvSpPr txBox="1"/>
          <p:nvPr/>
        </p:nvSpPr>
        <p:spPr>
          <a:xfrm>
            <a:off x="1737360" y="2761488"/>
            <a:ext cx="6766560" cy="347472"/>
          </a:xfrm>
          <a:prstGeom prst="rect">
            <a:avLst/>
          </a:prstGeom>
          <a:noFill/>
        </p:spPr>
        <p:txBody>
          <a:bodyPr wrap="square">
            <a:spAutoFit/>
          </a:bodyPr>
          <a:lstStyle/>
          <a:p>
            <a:pPr>
              <a:defRPr sz="1100" b="1">
                <a:solidFill>
                  <a:srgbClr val="0A2342"/>
                </a:solidFill>
              </a:defRPr>
            </a:pPr>
            <a:r>
              <a:t>collaborate with influencers and athletes</a:t>
            </a:r>
          </a:p>
        </p:txBody>
      </p:sp>
      <p:sp>
        <p:nvSpPr>
          <p:cNvPr id="16" name="TextBox 15"/>
          <p:cNvSpPr txBox="1"/>
          <p:nvPr/>
        </p:nvSpPr>
        <p:spPr>
          <a:xfrm>
            <a:off x="1737360" y="3145536"/>
            <a:ext cx="6766560" cy="292608"/>
          </a:xfrm>
          <a:prstGeom prst="rect">
            <a:avLst/>
          </a:prstGeom>
          <a:noFill/>
        </p:spPr>
        <p:txBody>
          <a:bodyPr wrap="none">
            <a:spAutoFit/>
          </a:bodyPr>
          <a:lstStyle/>
          <a:p>
            <a:pPr>
              <a:defRPr sz="900" i="1">
                <a:solidFill>
                  <a:srgbClr val="6B7280"/>
                </a:solidFill>
              </a:defRPr>
            </a:pPr>
            <a:r>
              <a:t>Expected: 10% increase in brand awareness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77240"/>
          </a:xfrm>
          <a:prstGeom prst="rect">
            <a:avLst/>
          </a:prstGeom>
          <a:solidFill>
            <a:srgbClr val="0A2342"/>
          </a:solidFill>
          <a:ln>
            <a:solidFill>
              <a:srgbClr val="0A2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48640"/>
          </a:xfrm>
          <a:prstGeom prst="rect">
            <a:avLst/>
          </a:prstGeom>
          <a:noFill/>
        </p:spPr>
        <p:txBody>
          <a:bodyPr wrap="none">
            <a:spAutoFit/>
          </a:bodyPr>
          <a:lstStyle/>
          <a:p>
            <a:pPr>
              <a:defRPr sz="2400" b="1">
                <a:solidFill>
                  <a:srgbClr val="FFFFFF"/>
                </a:solidFill>
              </a:defRPr>
            </a:pPr>
            <a:r>
              <a:t>Performance Scorecard</a:t>
            </a:r>
          </a:p>
        </p:txBody>
      </p:sp>
      <p:sp>
        <p:nvSpPr>
          <p:cNvPr id="4" name="Rectangle 3"/>
          <p:cNvSpPr/>
          <p:nvPr/>
        </p:nvSpPr>
        <p:spPr>
          <a:xfrm>
            <a:off x="0" y="777240"/>
            <a:ext cx="9144000" cy="4572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005840"/>
          <a:ext cx="8229600" cy="292608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975360">
                <a:tc>
                  <a:txBody>
                    <a:bodyPr/>
                    <a:lstStyle/>
                    <a:p>
                      <a:pPr algn="ctr">
                        <a:defRPr sz="1000" b="1">
                          <a:solidFill>
                            <a:srgbClr val="FFFFFF"/>
                          </a:solidFill>
                        </a:defRPr>
                      </a:pPr>
                      <a:r>
                        <a:t>Company</a:t>
                      </a:r>
                    </a:p>
                  </a:txBody>
                  <a:tcPr>
                    <a:solidFill>
                      <a:srgbClr val="0A2342"/>
                    </a:solidFill>
                  </a:tcPr>
                </a:tc>
                <a:tc>
                  <a:txBody>
                    <a:bodyPr/>
                    <a:lstStyle/>
                    <a:p>
                      <a:pPr algn="ctr">
                        <a:defRPr sz="1000" b="1">
                          <a:solidFill>
                            <a:srgbClr val="FFFFFF"/>
                          </a:solidFill>
                        </a:defRPr>
                      </a:pPr>
                      <a:r>
                        <a:t>Subscribers</a:t>
                      </a:r>
                    </a:p>
                  </a:txBody>
                  <a:tcPr>
                    <a:solidFill>
                      <a:srgbClr val="0A2342"/>
                    </a:solidFill>
                  </a:tcPr>
                </a:tc>
                <a:tc>
                  <a:txBody>
                    <a:bodyPr/>
                    <a:lstStyle/>
                    <a:p>
                      <a:pPr algn="ctr">
                        <a:defRPr sz="1000" b="1">
                          <a:solidFill>
                            <a:srgbClr val="FFFFFF"/>
                          </a:solidFill>
                        </a:defRPr>
                      </a:pPr>
                      <a:r>
                        <a:t>Engagement</a:t>
                      </a:r>
                    </a:p>
                  </a:txBody>
                  <a:tcPr>
                    <a:solidFill>
                      <a:srgbClr val="0A2342"/>
                    </a:solidFill>
                  </a:tcPr>
                </a:tc>
                <a:tc>
                  <a:txBody>
                    <a:bodyPr/>
                    <a:lstStyle/>
                    <a:p>
                      <a:pPr algn="ctr">
                        <a:defRPr sz="1000" b="1">
                          <a:solidFill>
                            <a:srgbClr val="FFFFFF"/>
                          </a:solidFill>
                        </a:defRPr>
                      </a:pPr>
                      <a:r>
                        <a:t>Consistency</a:t>
                      </a:r>
                    </a:p>
                  </a:txBody>
                  <a:tcPr>
                    <a:solidFill>
                      <a:srgbClr val="0A2342"/>
                    </a:solidFill>
                  </a:tcPr>
                </a:tc>
                <a:tc>
                  <a:txBody>
                    <a:bodyPr/>
                    <a:lstStyle/>
                    <a:p>
                      <a:pPr algn="ctr">
                        <a:defRPr sz="1000" b="1">
                          <a:solidFill>
                            <a:srgbClr val="FFFFFF"/>
                          </a:solidFill>
                        </a:defRPr>
                      </a:pPr>
                      <a:r>
                        <a:t>Content</a:t>
                      </a:r>
                    </a:p>
                  </a:txBody>
                  <a:tcPr>
                    <a:solidFill>
                      <a:srgbClr val="0A2342"/>
                    </a:solidFill>
                  </a:tcPr>
                </a:tc>
                <a:tc>
                  <a:txBody>
                    <a:bodyPr/>
                    <a:lstStyle/>
                    <a:p>
                      <a:pPr algn="ctr">
                        <a:defRPr sz="1000" b="1">
                          <a:solidFill>
                            <a:srgbClr val="FFFFFF"/>
                          </a:solidFill>
                        </a:defRPr>
                      </a:pPr>
                      <a:r>
                        <a:t>Overall /10</a:t>
                      </a:r>
                    </a:p>
                  </a:txBody>
                  <a:tcPr>
                    <a:solidFill>
                      <a:srgbClr val="0A2342"/>
                    </a:solidFill>
                  </a:tcPr>
                </a:tc>
              </a:tr>
              <a:tr h="975360">
                <a:tc>
                  <a:txBody>
                    <a:bodyPr/>
                    <a:lstStyle/>
                    <a:p>
                      <a:pPr algn="ctr">
                        <a:defRPr sz="1000" b="1">
                          <a:solidFill>
                            <a:srgbClr val="FFFFFF"/>
                          </a:solidFill>
                        </a:defRPr>
                      </a:pPr>
                      <a:r>
                        <a:t>Nike</a:t>
                      </a:r>
                    </a:p>
                  </a:txBody>
                  <a:tcPr>
                    <a:solidFill>
                      <a:srgbClr val="E63946"/>
                    </a:solidFill>
                  </a:tcPr>
                </a:tc>
                <a:tc>
                  <a:txBody>
                    <a:bodyPr/>
                    <a:lstStyle/>
                    <a:p>
                      <a:pPr algn="ctr">
                        <a:defRPr sz="1000" b="1">
                          <a:solidFill>
                            <a:srgbClr val="FFFFFF"/>
                          </a:solidFill>
                        </a:defRPr>
                      </a:pPr>
                      <a:r>
                        <a:t>8</a:t>
                      </a:r>
                    </a:p>
                  </a:txBody>
                  <a:tcPr>
                    <a:solidFill>
                      <a:srgbClr val="E63946"/>
                    </a:solidFill>
                  </a:tcPr>
                </a:tc>
                <a:tc>
                  <a:txBody>
                    <a:bodyPr/>
                    <a:lstStyle/>
                    <a:p>
                      <a:pPr algn="ctr">
                        <a:defRPr sz="1000" b="1">
                          <a:solidFill>
                            <a:srgbClr val="FFFFFF"/>
                          </a:solidFill>
                        </a:defRPr>
                      </a:pPr>
                      <a:r>
                        <a:t>7</a:t>
                      </a:r>
                    </a:p>
                  </a:txBody>
                  <a:tcPr>
                    <a:solidFill>
                      <a:srgbClr val="E63946"/>
                    </a:solidFill>
                  </a:tcPr>
                </a:tc>
                <a:tc>
                  <a:txBody>
                    <a:bodyPr/>
                    <a:lstStyle/>
                    <a:p>
                      <a:pPr algn="ctr">
                        <a:defRPr sz="1000" b="1">
                          <a:solidFill>
                            <a:srgbClr val="FFFFFF"/>
                          </a:solidFill>
                        </a:defRPr>
                      </a:pPr>
                      <a:r>
                        <a:t>9</a:t>
                      </a:r>
                    </a:p>
                  </a:txBody>
                  <a:tcPr>
                    <a:solidFill>
                      <a:srgbClr val="E63946"/>
                    </a:solidFill>
                  </a:tcPr>
                </a:tc>
                <a:tc>
                  <a:txBody>
                    <a:bodyPr/>
                    <a:lstStyle/>
                    <a:p>
                      <a:pPr algn="ctr">
                        <a:defRPr sz="1000" b="1">
                          <a:solidFill>
                            <a:srgbClr val="FFFFFF"/>
                          </a:solidFill>
                        </a:defRPr>
                      </a:pPr>
                      <a:r>
                        <a:t>7</a:t>
                      </a:r>
                    </a:p>
                  </a:txBody>
                  <a:tcPr>
                    <a:solidFill>
                      <a:srgbClr val="E63946"/>
                    </a:solidFill>
                  </a:tcPr>
                </a:tc>
                <a:tc>
                  <a:txBody>
                    <a:bodyPr/>
                    <a:lstStyle/>
                    <a:p>
                      <a:pPr algn="ctr">
                        <a:defRPr sz="1000" b="1">
                          <a:solidFill>
                            <a:srgbClr val="FFFFFF"/>
                          </a:solidFill>
                        </a:defRPr>
                      </a:pPr>
                      <a:r>
                        <a:t>8</a:t>
                      </a:r>
                    </a:p>
                  </a:txBody>
                  <a:tcPr>
                    <a:solidFill>
                      <a:srgbClr val="E63946"/>
                    </a:solidFill>
                  </a:tcPr>
                </a:tc>
              </a:tr>
              <a:tr h="975360">
                <a:tc>
                  <a:txBody>
                    <a:bodyPr/>
                    <a:lstStyle/>
                    <a:p>
                      <a:pPr algn="ctr">
                        <a:defRPr sz="1000" b="0">
                          <a:solidFill>
                            <a:srgbClr val="0A2342"/>
                          </a:solidFill>
                        </a:defRPr>
                      </a:pPr>
                      <a:r>
                        <a:t>Adidas</a:t>
                      </a:r>
                    </a:p>
                  </a:txBody>
                  <a:tcPr>
                    <a:solidFill>
                      <a:srgbClr val="F3F4F6"/>
                    </a:solidFill>
                  </a:tcPr>
                </a:tc>
                <a:tc>
                  <a:txBody>
                    <a:bodyPr/>
                    <a:lstStyle/>
                    <a:p>
                      <a:pPr algn="ctr">
                        <a:defRPr sz="1000" b="0">
                          <a:solidFill>
                            <a:srgbClr val="0A2342"/>
                          </a:solidFill>
                        </a:defRPr>
                      </a:pPr>
                      <a:r>
                        <a:t>6</a:t>
                      </a:r>
                    </a:p>
                  </a:txBody>
                  <a:tcPr>
                    <a:solidFill>
                      <a:srgbClr val="F3F4F6"/>
                    </a:solidFill>
                  </a:tcPr>
                </a:tc>
                <a:tc>
                  <a:txBody>
                    <a:bodyPr/>
                    <a:lstStyle/>
                    <a:p>
                      <a:pPr algn="ctr">
                        <a:defRPr sz="1000" b="0">
                          <a:solidFill>
                            <a:srgbClr val="0A2342"/>
                          </a:solidFill>
                        </a:defRPr>
                      </a:pPr>
                      <a:r>
                        <a:t>6</a:t>
                      </a:r>
                    </a:p>
                  </a:txBody>
                  <a:tcPr>
                    <a:solidFill>
                      <a:srgbClr val="F3F4F6"/>
                    </a:solidFill>
                  </a:tcPr>
                </a:tc>
                <a:tc>
                  <a:txBody>
                    <a:bodyPr/>
                    <a:lstStyle/>
                    <a:p>
                      <a:pPr algn="ctr">
                        <a:defRPr sz="1000" b="0">
                          <a:solidFill>
                            <a:srgbClr val="0A2342"/>
                          </a:solidFill>
                        </a:defRPr>
                      </a:pPr>
                      <a:r>
                        <a:t>7</a:t>
                      </a:r>
                    </a:p>
                  </a:txBody>
                  <a:tcPr>
                    <a:solidFill>
                      <a:srgbClr val="F3F4F6"/>
                    </a:solidFill>
                  </a:tcPr>
                </a:tc>
                <a:tc>
                  <a:txBody>
                    <a:bodyPr/>
                    <a:lstStyle/>
                    <a:p>
                      <a:pPr algn="ctr">
                        <a:defRPr sz="1000" b="0">
                          <a:solidFill>
                            <a:srgbClr val="0A2342"/>
                          </a:solidFill>
                        </a:defRPr>
                      </a:pPr>
                      <a:r>
                        <a:t>6</a:t>
                      </a:r>
                    </a:p>
                  </a:txBody>
                  <a:tcPr>
                    <a:solidFill>
                      <a:srgbClr val="F3F4F6"/>
                    </a:solidFill>
                  </a:tcPr>
                </a:tc>
                <a:tc>
                  <a:txBody>
                    <a:bodyPr/>
                    <a:lstStyle/>
                    <a:p>
                      <a:pPr algn="ctr">
                        <a:defRPr sz="1000" b="0">
                          <a:solidFill>
                            <a:srgbClr val="0A2342"/>
                          </a:solidFill>
                        </a:defRPr>
                      </a:pPr>
                      <a:r>
                        <a:t>6</a:t>
                      </a:r>
                    </a:p>
                  </a:txBody>
                  <a:tcPr>
                    <a:solidFill>
                      <a:srgbClr val="F3F4F6"/>
                    </a:solidFill>
                  </a:tcPr>
                </a:tc>
              </a:tr>
            </a:tbl>
          </a:graphicData>
        </a:graphic>
      </p:graphicFrame>
      <p:sp>
        <p:nvSpPr>
          <p:cNvPr id="6" name="TextBox 5"/>
          <p:cNvSpPr txBox="1"/>
          <p:nvPr/>
        </p:nvSpPr>
        <p:spPr>
          <a:xfrm>
            <a:off x="457200" y="4114800"/>
            <a:ext cx="8229600" cy="731520"/>
          </a:xfrm>
          <a:prstGeom prst="rect">
            <a:avLst/>
          </a:prstGeom>
          <a:noFill/>
        </p:spPr>
        <p:txBody>
          <a:bodyPr wrap="square">
            <a:spAutoFit/>
          </a:bodyPr>
          <a:lstStyle/>
          <a:p>
            <a:pPr>
              <a:defRPr sz="1100" i="1">
                <a:solidFill>
                  <a:srgbClr val="0A2342"/>
                </a:solidFill>
              </a:defRPr>
            </a:pPr>
            <a:r>
              <a:t>💡  the importance of creating engaging and interactive content to increase audience participation and loyalty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2342"/>
        </a:solidFill>
        <a:effectLst/>
      </p:bgPr>
    </p:bg>
    <p:spTree>
      <p:nvGrpSpPr>
        <p:cNvPr id="1" name=""/>
        <p:cNvGrpSpPr/>
        <p:nvPr/>
      </p:nvGrpSpPr>
      <p:grpSpPr/>
      <p:sp>
        <p:nvSpPr>
          <p:cNvPr id="2" name="Rectangle 1"/>
          <p:cNvSpPr/>
          <p:nvPr/>
        </p:nvSpPr>
        <p:spPr>
          <a:xfrm>
            <a:off x="0" y="2286000"/>
            <a:ext cx="9144000" cy="54864"/>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8229600" cy="1371600"/>
          </a:xfrm>
          <a:prstGeom prst="rect">
            <a:avLst/>
          </a:prstGeom>
          <a:noFill/>
        </p:spPr>
        <p:txBody>
          <a:bodyPr wrap="none">
            <a:spAutoFit/>
          </a:bodyPr>
          <a:lstStyle/>
          <a:p>
            <a:pPr algn="ctr">
              <a:defRPr sz="3600" b="1">
                <a:solidFill>
                  <a:srgbClr val="FFFFFF"/>
                </a:solidFill>
              </a:defRPr>
            </a:pPr>
            <a:r>
              <a:t>🏆  Nike leads the competition</a:t>
            </a:r>
          </a:p>
        </p:txBody>
      </p:sp>
      <p:sp>
        <p:nvSpPr>
          <p:cNvPr id="4" name="TextBox 3"/>
          <p:cNvSpPr txBox="1"/>
          <p:nvPr/>
        </p:nvSpPr>
        <p:spPr>
          <a:xfrm>
            <a:off x="457200" y="2560320"/>
            <a:ext cx="8229600" cy="1097280"/>
          </a:xfrm>
          <a:prstGeom prst="rect">
            <a:avLst/>
          </a:prstGeom>
          <a:noFill/>
        </p:spPr>
        <p:txBody>
          <a:bodyPr wrap="square">
            <a:spAutoFit/>
          </a:bodyPr>
          <a:lstStyle/>
          <a:p>
            <a:pPr algn="ctr">
              <a:defRPr sz="1300">
                <a:solidFill>
                  <a:srgbClr val="6B7280"/>
                </a:solidFill>
              </a:defRPr>
            </a:pPr>
            <a:r>
              <a:t>Nike leads in the YouTube space due to its large subscriber base of 48 million and high total views of 500 million.</a:t>
            </a:r>
          </a:p>
        </p:txBody>
      </p:sp>
      <p:sp>
        <p:nvSpPr>
          <p:cNvPr id="5" name="TextBox 4"/>
          <p:cNvSpPr txBox="1"/>
          <p:nvPr/>
        </p:nvSpPr>
        <p:spPr>
          <a:xfrm>
            <a:off x="457200" y="4389120"/>
            <a:ext cx="8229600" cy="365760"/>
          </a:xfrm>
          <a:prstGeom prst="rect">
            <a:avLst/>
          </a:prstGeom>
          <a:noFill/>
        </p:spPr>
        <p:txBody>
          <a:bodyPr wrap="none">
            <a:spAutoFit/>
          </a:bodyPr>
          <a:lstStyle/>
          <a:p>
            <a:pPr algn="ctr">
              <a:defRPr sz="1000">
                <a:solidFill>
                  <a:srgbClr val="646464"/>
                </a:solidFill>
              </a:defRPr>
            </a:pPr>
            <a:r>
              <a:t>Generated by Video Competitor Intelligence Tool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